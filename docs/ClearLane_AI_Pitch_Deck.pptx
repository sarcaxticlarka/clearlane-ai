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133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hyperlink" Target="https://github.com/sarcaxticlarka/ClearLane-AI" TargetMode="Externa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 rot="5400000">
            <a:off x="548640" y="6126480"/>
            <a:ext cx="365760" cy="365760"/>
          </a:xfrm>
          <a:prstGeom prst="triangle">
            <a:avLst/>
          </a:prstGeom>
          <a:solidFill>
            <a:srgbClr val="5C7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457200"/>
            <a:ext cx="320040" cy="320040"/>
          </a:xfrm>
          <a:prstGeom prst="pentagon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6858000" cy="216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60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CLEARLANE</a:t>
            </a:r>
            <a:endParaRPr lang="en-US" sz="60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60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713232" y="3126302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F2685C"/>
          </a:solidFill>
          <a:ln w="1270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312630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Smarter Streets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90354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visibility, prioritization, and response through real traffic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772222"/>
            <a:ext cx="429768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77222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 GridLock Hackathon 2.0 — Round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3800" y="1051560"/>
            <a:ext cx="40233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188720"/>
            <a:ext cx="3749040" cy="310896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754880"/>
            <a:ext cx="10972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 rot="16200000">
            <a:off x="594360" y="457200"/>
            <a:ext cx="365760" cy="365760"/>
          </a:xfrm>
          <a:prstGeom prst="triangle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89320" y="502920"/>
            <a:ext cx="320040" cy="320040"/>
          </a:xfrm>
          <a:prstGeom prst="pentagon">
            <a:avLst/>
          </a:prstGeom>
          <a:solidFill>
            <a:srgbClr val="5C7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6949440" cy="134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BENGALURU'S TRAFFIC</a:t>
            </a:r>
            <a:endParaRPr lang="en-US" sz="34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34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POLICE ARE FLYING BLIND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2397935"/>
            <a:ext cx="502920" cy="32004"/>
          </a:xfrm>
          <a:prstGeom prst="rect">
            <a:avLst/>
          </a:prstGeom>
          <a:solidFill>
            <a:srgbClr val="1713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626535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write over 3 lakh parking tickets every season — but have no way to know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ones are actually causing traffic jams. Officers patrol the same routes every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day, guessing where the problem is, with no system telling them where to go.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952415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952415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Hotspot Map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3952415"/>
            <a:ext cx="2606040" cy="502920"/>
          </a:xfrm>
          <a:prstGeom prst="roundRect">
            <a:avLst>
              <a:gd name="adj" fmla="val 50000"/>
            </a:avLst>
          </a:prstGeom>
          <a:solidFill>
            <a:srgbClr val="F2685C"/>
          </a:solidFill>
          <a:ln w="1270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3952415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Patrols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592495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592495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Prioritization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18120" y="1234440"/>
            <a:ext cx="39319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371600"/>
            <a:ext cx="36576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0" y="457200"/>
            <a:ext cx="320040" cy="320040"/>
          </a:xfrm>
          <a:prstGeom prst="ellipse">
            <a:avLst/>
          </a:prstGeom>
          <a:solidFill>
            <a:srgbClr val="3CC0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6583680" cy="1787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2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IF THE DATA</a:t>
            </a:r>
            <a:endParaRPr lang="en-US" sz="32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32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COULD TELL THEM</a:t>
            </a:r>
            <a:endParaRPr lang="en-US" sz="32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32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WHERE TO GO?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4793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an AI system that reads real violation records and automatically finds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worst traffic hotspots in the city — then tells officers exactly where to go,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when, and how many people to send.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001000" y="1143000"/>
            <a:ext cx="36576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383280" cy="28346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4434840"/>
            <a:ext cx="1005840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430000" y="45720"/>
            <a:ext cx="320040" cy="320040"/>
          </a:xfrm>
          <a:prstGeom prst="pentagon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315200" cy="1283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2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FROM MESSY DATA</a:t>
            </a:r>
            <a:endParaRPr lang="en-US" sz="32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32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 A CLEAR ACTION PLAN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2240280"/>
            <a:ext cx="420624" cy="420624"/>
          </a:xfrm>
          <a:prstGeom prst="ellipse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35024" y="22037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police records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35024" y="248716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lakh+ raw violation rows from Bengaluru Traffic Police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3017520"/>
            <a:ext cx="420624" cy="420624"/>
          </a:xfrm>
          <a:prstGeom prst="ellipse">
            <a:avLst/>
          </a:prstGeom>
          <a:solidFill>
            <a:srgbClr val="5C7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5024" y="29809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 the patterns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35024" y="32644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Where, when, and how badly each spot is blocking traffic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794760"/>
            <a:ext cx="420624" cy="420624"/>
          </a:xfrm>
          <a:prstGeom prst="ellipse">
            <a:avLst/>
          </a:prstGeom>
          <a:solidFill>
            <a:srgbClr val="3CC0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35024" y="37581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map anyone can read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35024" y="404164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zones, no spreadsheet required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4572000"/>
            <a:ext cx="420624" cy="420624"/>
          </a:xfrm>
          <a:prstGeom prst="ellipse">
            <a:avLst/>
          </a:prstGeom>
          <a:solidFill>
            <a:srgbClr val="1713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35024" y="45354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ranked to-do list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35024" y="481888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officer count and time window, per zone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35240" y="4023360"/>
            <a:ext cx="4297680" cy="2350008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160520"/>
            <a:ext cx="4023360" cy="2075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274320" cy="274320"/>
          </a:xfrm>
          <a:prstGeom prst="ellipse">
            <a:avLst/>
          </a:prstGeom>
          <a:solidFill>
            <a:srgbClr val="5C7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315200" cy="1283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2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AI DOES THE</a:t>
            </a:r>
            <a:endParaRPr lang="en-US" sz="32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32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HARD THINKING FOR YOU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2194560"/>
            <a:ext cx="109728" cy="731520"/>
          </a:xfrm>
          <a:prstGeom prst="rect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258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Finder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25420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thousands of violations into ~179 real trouble zones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3090672"/>
            <a:ext cx="109728" cy="731520"/>
          </a:xfrm>
          <a:prstGeom prst="rect">
            <a:avLst/>
          </a:prstGeom>
          <a:solidFill>
            <a:srgbClr val="5C7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3090672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Score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" y="343814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every zone 0–100 on how badly it's hurting traffic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" y="3986784"/>
            <a:ext cx="109728" cy="731520"/>
          </a:xfrm>
          <a:prstGeom prst="rect">
            <a:avLst/>
          </a:prstGeom>
          <a:solidFill>
            <a:srgbClr val="3CC0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" y="3986784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4050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48h Forecast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433425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where problems get worse, two days ahead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4882896"/>
            <a:ext cx="109728" cy="731520"/>
          </a:xfrm>
          <a:prstGeom prst="rect">
            <a:avLst/>
          </a:prstGeom>
          <a:solidFill>
            <a:srgbClr val="1713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8680" y="4882896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97280" y="4946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Alerts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7280" y="523036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unusual spikes a human would never spot in spreadsheets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1234440"/>
            <a:ext cx="33832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 rot="10800000">
            <a:off x="11430000" y="45720"/>
            <a:ext cx="320040" cy="320040"/>
          </a:xfrm>
          <a:prstGeom prst="triangle">
            <a:avLst/>
          </a:prstGeom>
          <a:solidFill>
            <a:srgbClr val="3CC0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6949440" cy="134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NOT JUST CHARTS —</a:t>
            </a:r>
            <a:endParaRPr lang="en-US" sz="34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34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ACTUAL INSTRUCTIONS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306495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raw insight into a real enforcement plan.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900855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900855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2882567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74520" y="317517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the top 10 zones that need attention right now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31520" y="3614087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2685C"/>
          </a:solidFill>
          <a:ln w="1270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614087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3595799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Count + 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74520" y="3888407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number of officers and the time window to deploy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31520" y="4327319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327319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4309031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Awareness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74520" y="4601639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how a jam in one area spills into nearby streets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366760" y="1234440"/>
            <a:ext cx="3108960" cy="3227832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0"/>
            <a:ext cx="2834640" cy="2953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766560" y="457200"/>
            <a:ext cx="274320" cy="274320"/>
          </a:xfrm>
          <a:prstGeom prst="ellipse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5943600" cy="904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40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JUST ASK 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dashboards to learn — just ask a question.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778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3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area needs officers right now?"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730752"/>
            <a:ext cx="109728" cy="109728"/>
          </a:xfrm>
          <a:prstGeom prst="ellipse">
            <a:avLst/>
          </a:prstGeom>
          <a:solidFill>
            <a:srgbClr val="3CC0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3611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grounded only in real data — never makes numbers 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142232"/>
            <a:ext cx="109728" cy="109728"/>
          </a:xfrm>
          <a:prstGeom prst="ellipse">
            <a:avLst/>
          </a:prstGeom>
          <a:solidFill>
            <a:srgbClr val="3CC0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40233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be tricked into answering random off-topic questions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553712"/>
            <a:ext cx="109728" cy="109728"/>
          </a:xfrm>
          <a:prstGeom prst="ellipse">
            <a:avLst/>
          </a:prstGeom>
          <a:solidFill>
            <a:srgbClr val="3CC0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44348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auto-writes daily/weekly reports, downloadable as a PDF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1417320"/>
            <a:ext cx="4023360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554480"/>
            <a:ext cx="374904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274320" cy="274320"/>
          </a:xfrm>
          <a:prstGeom prst="pentagon">
            <a:avLst/>
          </a:prstGeom>
          <a:solidFill>
            <a:srgbClr val="5C7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6858000" cy="134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4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 FEW MORE</a:t>
            </a:r>
            <a:endParaRPr lang="en-US" sz="34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34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THINGS IT DOES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13232" y="228600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2450592"/>
            <a:ext cx="457200" cy="457200"/>
          </a:xfrm>
          <a:prstGeom prst="ellipse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51917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0472" y="24323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Repeat-Offender Spotting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6112" y="2999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vehicles that break the rules over and over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14800" y="228600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79392" y="2450592"/>
            <a:ext cx="457200" cy="457200"/>
          </a:xfrm>
          <a:prstGeom prst="ellipse">
            <a:avLst/>
          </a:prstGeom>
          <a:solidFill>
            <a:srgbClr val="5C7F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972" y="251917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24323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Comparison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297680" y="29992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any two areas at a glance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13232" y="370332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77824" y="3867912"/>
            <a:ext cx="457200" cy="457200"/>
          </a:xfrm>
          <a:prstGeom prst="ellipse">
            <a:avLst/>
          </a:prstGeom>
          <a:solidFill>
            <a:srgbClr val="3CC0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393649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90472" y="38496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Tracking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96112" y="44165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if a zone is getting better or worse over time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114800" y="370332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279392" y="3867912"/>
            <a:ext cx="457200" cy="457200"/>
          </a:xfrm>
          <a:prstGeom prst="ellipse">
            <a:avLst/>
          </a:prstGeom>
          <a:solidFill>
            <a:srgbClr val="1713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972" y="393649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92040" y="38496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Replay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297680" y="44165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Replays a typical day, hour by hour, like a time-lapse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092440" y="2148840"/>
            <a:ext cx="33832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28600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430000" y="45720"/>
            <a:ext cx="274320" cy="274320"/>
          </a:xfrm>
          <a:prstGeom prst="ellipse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6400800" cy="1472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8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BUILT TO</a:t>
            </a:r>
            <a:endParaRPr lang="en-US" sz="38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38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ACTUALLY WORK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32619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engineering, not just a hackathon prototype.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990403"/>
            <a:ext cx="146304" cy="146304"/>
          </a:xfrm>
          <a:prstGeom prst="ellipse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862387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2862387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pandas · scikit-learn · Prophet · XGBoost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557331"/>
            <a:ext cx="146304" cy="146304"/>
          </a:xfrm>
          <a:prstGeom prst="ellipse">
            <a:avLst/>
          </a:prstGeom>
          <a:solidFill>
            <a:srgbClr val="5C7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3429315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3429315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Groq AI · 15 live endpoints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4124259"/>
            <a:ext cx="146304" cy="146304"/>
          </a:xfrm>
          <a:prstGeom prst="ellipse">
            <a:avLst/>
          </a:prstGeom>
          <a:solidFill>
            <a:srgbClr val="3CC0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996243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996243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TypeScript · Live interactive map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691187"/>
            <a:ext cx="146304" cy="146304"/>
          </a:xfrm>
          <a:prstGeom prst="ellipse">
            <a:avLst/>
          </a:prstGeom>
          <a:solidFill>
            <a:srgbClr val="1713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4563171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4563171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Render + Vercel, not just a laptop demo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66760" y="1325880"/>
            <a:ext cx="3108960" cy="3236976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463040"/>
            <a:ext cx="2834640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 rot="16200000">
            <a:off x="548640" y="457200"/>
            <a:ext cx="365760" cy="365760"/>
          </a:xfrm>
          <a:prstGeom prst="triangle">
            <a:avLst/>
          </a:prstGeom>
          <a:solidFill>
            <a:srgbClr val="5C7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6858000" cy="140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6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FROM REACTING</a:t>
            </a:r>
            <a:endParaRPr lang="en-US" sz="36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36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 PREDICTING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13232" y="2286000"/>
            <a:ext cx="6675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0320">
            <a:solidFill>
              <a:srgbClr val="F2685C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Not Guesswork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 stop guessing and start acting on real data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13232" y="3337560"/>
            <a:ext cx="6675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0320">
            <a:solidFill>
              <a:srgbClr val="5C7FF2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Explainable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recommendation traces back to a real record — no black box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13232" y="4389120"/>
            <a:ext cx="6675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0320">
            <a:solidFill>
              <a:srgbClr val="3CC08B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clearly flag what's real data vs. placeholder data — no faking results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01000" y="1417320"/>
            <a:ext cx="35661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554480"/>
            <a:ext cx="3291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675120" y="457200"/>
            <a:ext cx="292608" cy="292608"/>
          </a:xfrm>
          <a:prstGeom prst="pentagon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6400800" cy="93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42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OPTIMAL PATH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builders, one pipeline.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502152"/>
            <a:ext cx="640080" cy="640080"/>
          </a:xfrm>
          <a:prstGeom prst="ellipse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502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3557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Sajjan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3849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Optimal Path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646400"/>
            <a:ext cx="640080" cy="640080"/>
          </a:xfrm>
          <a:prstGeom prst="ellipse">
            <a:avLst/>
          </a:prstGeom>
          <a:solidFill>
            <a:srgbClr val="5C7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64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701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Shitanshu Singh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993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Optimal Path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3CC0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398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Divyanshu Raj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690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Optimal Path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09560" y="2880360"/>
            <a:ext cx="3840480" cy="2907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017520"/>
            <a:ext cx="3566160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PATH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0" y="457200"/>
            <a:ext cx="320040" cy="320040"/>
          </a:xfrm>
          <a:prstGeom prst="ellipse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5400000">
            <a:off x="11430000" y="45720"/>
            <a:ext cx="320040" cy="320040"/>
          </a:xfrm>
          <a:prstGeom prst="triangle">
            <a:avLst/>
          </a:prstGeom>
          <a:solidFill>
            <a:srgbClr val="5C7F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7315200" cy="1409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36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THANK YOU FOR</a:t>
            </a:r>
            <a:endParaRPr lang="en-US" sz="36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3600" dirty="0">
                <a:solidFill>
                  <a:srgbClr val="171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YOUR ATTENTION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643877"/>
            <a:ext cx="502920" cy="32004"/>
          </a:xfrm>
          <a:prstGeom prst="rect">
            <a:avLst/>
          </a:prstGeom>
          <a:solidFill>
            <a:srgbClr val="1713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826757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421117"/>
            <a:ext cx="502920" cy="502920"/>
          </a:xfrm>
          <a:prstGeom prst="ellipse">
            <a:avLst/>
          </a:prstGeom>
          <a:solidFill>
            <a:srgbClr val="F268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" y="3496555"/>
            <a:ext cx="352044" cy="3520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3421117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 </a:t>
            </a:r>
            <a:r>
              <a:rPr lang="en-US" sz="1300" u="sng" dirty="0">
                <a:solidFill>
                  <a:srgbClr val="5C7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https://clear-lane-</a:t>
            </a:r>
            <a:r>
              <a:rPr lang="en-US" sz="1300" u="sng" dirty="0" err="1">
                <a:solidFill>
                  <a:srgbClr val="5C7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ai.vercel.app</a:t>
            </a:r>
            <a:r>
              <a:rPr lang="en-US" sz="1300" u="sng" dirty="0">
                <a:solidFill>
                  <a:srgbClr val="5C7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4061197"/>
            <a:ext cx="502920" cy="502920"/>
          </a:xfrm>
          <a:prstGeom prst="ellipse">
            <a:avLst/>
          </a:prstGeom>
          <a:solidFill>
            <a:srgbClr val="1713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58" y="4136635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4061197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</a:t>
            </a:r>
            <a:r>
              <a:rPr lang="en-US" sz="1300" u="sng" dirty="0">
                <a:solidFill>
                  <a:srgbClr val="5C7FF2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github.com/sarcaxticlarka/ClearLane-AI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2440" y="1325880"/>
            <a:ext cx="34747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71347"/>
            </a:solidFill>
            <a:prstDash val="solid"/>
          </a:ln>
          <a:effectLst>
            <a:outerShdw blurRad="127000" dist="50800" dir="5400000" algn="bl" rotWithShape="0">
              <a:srgbClr val="1713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46304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607</Words>
  <Application>Microsoft Macintosh PowerPoint</Application>
  <PresentationFormat>Widescreen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ClearLane AI — GridLock Hackathon 2.0 Round 2</dc:title>
  <dc:subject>PptxGenJS Presentation</dc:subject>
  <dc:creator>Optimal Path</dc:creator>
  <cp:lastModifiedBy>Md Sajjan</cp:lastModifiedBy>
  <cp:revision>3</cp:revision>
  <dcterms:created xsi:type="dcterms:W3CDTF">2026-06-18T04:58:24Z</dcterms:created>
  <dcterms:modified xsi:type="dcterms:W3CDTF">2026-06-18T05:16:47Z</dcterms:modified>
</cp:coreProperties>
</file>